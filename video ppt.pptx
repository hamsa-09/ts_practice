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4" r:id="rId7"/>
    <p:sldId id="262" r:id="rId8"/>
    <p:sldId id="265" r:id="rId9"/>
    <p:sldId id="266" r:id="rId10"/>
  </p:sldIdLst>
  <p:sldSz cx="18288000" cy="10287000"/>
  <p:notesSz cx="6858000" cy="9144000"/>
  <p:embeddedFontLst>
    <p:embeddedFont>
      <p:font typeface="IBM Plex Sans Condensed" panose="020B0604020202020204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DM Serif Display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B41"/>
    <a:srgbClr val="23233D"/>
    <a:srgbClr val="272745"/>
    <a:srgbClr val="1C1C30"/>
    <a:srgbClr val="2B2B4B"/>
    <a:srgbClr val="1F1F35"/>
    <a:srgbClr val="15172D"/>
    <a:srgbClr val="382749"/>
    <a:srgbClr val="291E56"/>
    <a:srgbClr val="2126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4.sv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5" Type="http://schemas.openxmlformats.org/officeDocument/2006/relationships/image" Target="../media/image14.sv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6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15" Type="http://schemas.openxmlformats.org/officeDocument/2006/relationships/image" Target="../media/image14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7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svg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7.svg"/><Relationship Id="rId7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9144514" y="4056564"/>
            <a:ext cx="5324389" cy="5324389"/>
            <a:chOff x="0" y="0"/>
            <a:chExt cx="7099186" cy="70991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099300" cy="7099300"/>
            </a:xfrm>
            <a:custGeom>
              <a:avLst/>
              <a:gdLst/>
              <a:ahLst/>
              <a:cxnLst/>
              <a:rect l="l" t="t" r="r" b="b"/>
              <a:pathLst>
                <a:path w="7099300" h="7099300">
                  <a:moveTo>
                    <a:pt x="3549650" y="0"/>
                  </a:moveTo>
                  <a:lnTo>
                    <a:pt x="0" y="3549650"/>
                  </a:lnTo>
                  <a:lnTo>
                    <a:pt x="3549650" y="7099300"/>
                  </a:lnTo>
                  <a:lnTo>
                    <a:pt x="7099300" y="3549650"/>
                  </a:lnTo>
                  <a:lnTo>
                    <a:pt x="354965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1809714" y="0"/>
            <a:ext cx="6478286" cy="7407412"/>
            <a:chOff x="0" y="0"/>
            <a:chExt cx="8637714" cy="98765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637651" cy="9876536"/>
            </a:xfrm>
            <a:custGeom>
              <a:avLst/>
              <a:gdLst/>
              <a:ahLst/>
              <a:cxnLst/>
              <a:rect l="l" t="t" r="r" b="b"/>
              <a:pathLst>
                <a:path w="8637651" h="9876536">
                  <a:moveTo>
                    <a:pt x="4625213" y="0"/>
                  </a:moveTo>
                  <a:lnTo>
                    <a:pt x="0" y="4625213"/>
                  </a:lnTo>
                  <a:lnTo>
                    <a:pt x="5251323" y="9876536"/>
                  </a:lnTo>
                  <a:lnTo>
                    <a:pt x="8637651" y="6490208"/>
                  </a:lnTo>
                  <a:lnTo>
                    <a:pt x="8637651" y="2760091"/>
                  </a:lnTo>
                  <a:lnTo>
                    <a:pt x="5877560" y="0"/>
                  </a:lnTo>
                  <a:close/>
                </a:path>
              </a:pathLst>
            </a:custGeom>
            <a:blipFill>
              <a:blip r:embed="rId5"/>
              <a:stretch>
                <a:fillRect t="-6340" r="-21593" b="-1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911420" y="4303708"/>
            <a:ext cx="8273501" cy="78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5850" dirty="0">
                <a:solidFill>
                  <a:srgbClr val="FFFFFF"/>
                </a:solidFill>
                <a:latin typeface="DM Serif Display"/>
              </a:rPr>
              <a:t> Genetic Programming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62008" y="6438900"/>
            <a:ext cx="4876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HAMSAVARDHINI B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7376221CS159</a:t>
            </a:r>
          </a:p>
          <a:p>
            <a:endParaRPr lang="en-IN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1605460" y="3266265"/>
            <a:ext cx="6372130" cy="6372130"/>
            <a:chOff x="0" y="0"/>
            <a:chExt cx="8496173" cy="8496173"/>
          </a:xfrm>
        </p:grpSpPr>
        <p:sp>
          <p:nvSpPr>
            <p:cNvPr id="4" name="Freeform 4"/>
            <p:cNvSpPr/>
            <p:nvPr/>
          </p:nvSpPr>
          <p:spPr>
            <a:xfrm flipH="1">
              <a:off x="0" y="0"/>
              <a:ext cx="8496173" cy="8496173"/>
            </a:xfrm>
            <a:custGeom>
              <a:avLst/>
              <a:gdLst/>
              <a:ahLst/>
              <a:cxnLst/>
              <a:rect l="l" t="t" r="r" b="b"/>
              <a:pathLst>
                <a:path w="8496173" h="8496173">
                  <a:moveTo>
                    <a:pt x="4248150" y="0"/>
                  </a:moveTo>
                  <a:lnTo>
                    <a:pt x="8496173" y="4248023"/>
                  </a:lnTo>
                  <a:lnTo>
                    <a:pt x="4248150" y="8496173"/>
                  </a:lnTo>
                  <a:lnTo>
                    <a:pt x="0" y="4248023"/>
                  </a:lnTo>
                  <a:lnTo>
                    <a:pt x="4248150" y="0"/>
                  </a:lnTo>
                  <a:close/>
                </a:path>
              </a:pathLst>
            </a:custGeom>
            <a:blipFill>
              <a:blip r:embed="rId4"/>
              <a:stretch>
                <a:fillRect b="-1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6375397" y="2654303"/>
            <a:ext cx="3987803" cy="101603"/>
          </a:xfrm>
          <a:custGeom>
            <a:avLst/>
            <a:gdLst/>
            <a:ahLst/>
            <a:cxnLst/>
            <a:rect l="l" t="t" r="r" b="b"/>
            <a:pathLst>
              <a:path w="3987803" h="101603">
                <a:moveTo>
                  <a:pt x="0" y="0"/>
                </a:moveTo>
                <a:lnTo>
                  <a:pt x="3987803" y="0"/>
                </a:lnTo>
                <a:lnTo>
                  <a:pt x="3987803" y="101603"/>
                </a:lnTo>
                <a:lnTo>
                  <a:pt x="0" y="1016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63503" y="328603"/>
            <a:ext cx="3990861" cy="10021891"/>
          </a:xfrm>
          <a:custGeom>
            <a:avLst/>
            <a:gdLst/>
            <a:ahLst/>
            <a:cxnLst/>
            <a:rect l="l" t="t" r="r" b="b"/>
            <a:pathLst>
              <a:path w="3990861" h="10021891">
                <a:moveTo>
                  <a:pt x="0" y="0"/>
                </a:moveTo>
                <a:lnTo>
                  <a:pt x="3990861" y="0"/>
                </a:lnTo>
                <a:lnTo>
                  <a:pt x="3990861" y="10021891"/>
                </a:lnTo>
                <a:lnTo>
                  <a:pt x="0" y="100218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730702" y="1340403"/>
            <a:ext cx="784860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475"/>
              </a:lnSpc>
            </a:pPr>
            <a:r>
              <a:rPr lang="en-US" sz="4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erif Display"/>
              </a:rPr>
              <a:t>Unleashing </a:t>
            </a:r>
            <a:r>
              <a:rPr lang="en-US" sz="4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erif Display"/>
              </a:rPr>
              <a:t> the  Potential of</a:t>
            </a:r>
          </a:p>
          <a:p>
            <a:pPr algn="r">
              <a:lnSpc>
                <a:spcPts val="2475"/>
              </a:lnSpc>
            </a:pPr>
            <a:endParaRPr lang="en-US" sz="4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M Serif Display"/>
            </a:endParaRPr>
          </a:p>
          <a:p>
            <a:pPr algn="r">
              <a:lnSpc>
                <a:spcPts val="2475"/>
              </a:lnSpc>
            </a:pPr>
            <a:r>
              <a:rPr lang="en-US" sz="4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erif Display"/>
              </a:rPr>
              <a:t>       </a:t>
            </a:r>
            <a:r>
              <a:rPr lang="en-US" sz="4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erif Display"/>
              </a:rPr>
              <a:t>       </a:t>
            </a:r>
            <a:r>
              <a:rPr lang="en-US" sz="4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erif Display"/>
              </a:rPr>
              <a:t>Genetic  Programming</a:t>
            </a:r>
            <a:endParaRPr lang="en-US" sz="4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M Serif Display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000910" y="3012243"/>
            <a:ext cx="6335163" cy="4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74"/>
              </a:lnSpc>
            </a:pPr>
            <a:endParaRPr lang="en-US" sz="3075" spc="52" dirty="0">
              <a:solidFill>
                <a:srgbClr val="FFFFFF"/>
              </a:solidFill>
              <a:latin typeface="IBM Plex Sans Condense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56078" y="3724539"/>
            <a:ext cx="72620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Genetic Programming is a powerful machine learning technique that uses evolutionary algorithms to optimize complex models. This presentation provides a comprehensive overview of the field, including its history, applications, and future prospects.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5232016"/>
            <a:ext cx="5320570" cy="5054984"/>
            <a:chOff x="0" y="0"/>
            <a:chExt cx="7094093" cy="67399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094093" cy="6740017"/>
            </a:xfrm>
            <a:custGeom>
              <a:avLst/>
              <a:gdLst/>
              <a:ahLst/>
              <a:cxnLst/>
              <a:rect l="l" t="t" r="r" b="b"/>
              <a:pathLst>
                <a:path w="7094093" h="6740017">
                  <a:moveTo>
                    <a:pt x="2528570" y="0"/>
                  </a:moveTo>
                  <a:lnTo>
                    <a:pt x="0" y="2528570"/>
                  </a:lnTo>
                  <a:lnTo>
                    <a:pt x="0" y="6602730"/>
                  </a:lnTo>
                  <a:lnTo>
                    <a:pt x="137287" y="6740017"/>
                  </a:lnTo>
                  <a:lnTo>
                    <a:pt x="4919726" y="6740017"/>
                  </a:lnTo>
                  <a:lnTo>
                    <a:pt x="7094093" y="4565523"/>
                  </a:lnTo>
                  <a:lnTo>
                    <a:pt x="2528570" y="0"/>
                  </a:lnTo>
                  <a:close/>
                </a:path>
              </a:pathLst>
            </a:custGeom>
            <a:blipFill>
              <a:blip r:embed="rId4"/>
              <a:stretch>
                <a:fillRect l="-28716" b="-35478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0" y="0"/>
            <a:ext cx="4753499" cy="4615558"/>
            <a:chOff x="0" y="0"/>
            <a:chExt cx="6337998" cy="61540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38062" cy="6154039"/>
            </a:xfrm>
            <a:custGeom>
              <a:avLst/>
              <a:gdLst/>
              <a:ahLst/>
              <a:cxnLst/>
              <a:rect l="l" t="t" r="r" b="b"/>
              <a:pathLst>
                <a:path w="6338062" h="6154039">
                  <a:moveTo>
                    <a:pt x="1233678" y="0"/>
                  </a:moveTo>
                  <a:lnTo>
                    <a:pt x="0" y="1233678"/>
                  </a:lnTo>
                  <a:lnTo>
                    <a:pt x="0" y="3568827"/>
                  </a:lnTo>
                  <a:lnTo>
                    <a:pt x="2585212" y="6154039"/>
                  </a:lnTo>
                  <a:lnTo>
                    <a:pt x="6338062" y="2401189"/>
                  </a:lnTo>
                  <a:lnTo>
                    <a:pt x="3936746" y="0"/>
                  </a:lnTo>
                  <a:close/>
                </a:path>
              </a:pathLst>
            </a:custGeom>
            <a:blipFill>
              <a:blip r:embed="rId5"/>
              <a:stretch>
                <a:fillRect l="-18422" t="-21961" b="-2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9486900" y="2667000"/>
            <a:ext cx="3505200" cy="101603"/>
          </a:xfrm>
          <a:custGeom>
            <a:avLst/>
            <a:gdLst/>
            <a:ahLst/>
            <a:cxnLst/>
            <a:rect l="l" t="t" r="r" b="b"/>
            <a:pathLst>
              <a:path w="3505200" h="101603">
                <a:moveTo>
                  <a:pt x="0" y="0"/>
                </a:moveTo>
                <a:lnTo>
                  <a:pt x="3505200" y="0"/>
                </a:lnTo>
                <a:lnTo>
                  <a:pt x="3505200" y="101603"/>
                </a:lnTo>
                <a:lnTo>
                  <a:pt x="0" y="1016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490024" y="1166089"/>
            <a:ext cx="6412192" cy="81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9"/>
              </a:lnSpc>
            </a:pPr>
            <a:r>
              <a:rPr lang="en-US" sz="4650">
                <a:solidFill>
                  <a:srgbClr val="FFFFFF"/>
                </a:solidFill>
                <a:latin typeface="DM Serif Display"/>
              </a:rPr>
              <a:t>Evolutionary Algorithms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3600" y="3708406"/>
            <a:ext cx="6477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Evolutionary algorithms are a family of optimization algorithms that mimic the process of natural selection to find the best solutions to complex problems. Genetic programming is a type of evolutionary algorithm that uses </a:t>
            </a:r>
            <a:r>
              <a:rPr lang="en-US" sz="2800" dirty="0" smtClean="0">
                <a:solidFill>
                  <a:schemeClr val="bg1"/>
                </a:solidFill>
              </a:rPr>
              <a:t>tree based </a:t>
            </a:r>
            <a:r>
              <a:rPr lang="en-US" sz="2800" dirty="0">
                <a:solidFill>
                  <a:schemeClr val="bg1"/>
                </a:solidFill>
              </a:rPr>
              <a:t>representations to evolve computer programs.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041" y="-98191"/>
            <a:ext cx="18473382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1605460" y="3266265"/>
            <a:ext cx="6372130" cy="6372130"/>
            <a:chOff x="0" y="0"/>
            <a:chExt cx="8496173" cy="8496173"/>
          </a:xfrm>
        </p:grpSpPr>
        <p:sp>
          <p:nvSpPr>
            <p:cNvPr id="4" name="Freeform 4"/>
            <p:cNvSpPr/>
            <p:nvPr/>
          </p:nvSpPr>
          <p:spPr>
            <a:xfrm flipH="1">
              <a:off x="0" y="0"/>
              <a:ext cx="8496173" cy="8496173"/>
            </a:xfrm>
            <a:custGeom>
              <a:avLst/>
              <a:gdLst/>
              <a:ahLst/>
              <a:cxnLst/>
              <a:rect l="l" t="t" r="r" b="b"/>
              <a:pathLst>
                <a:path w="8496173" h="8496173">
                  <a:moveTo>
                    <a:pt x="4248150" y="0"/>
                  </a:moveTo>
                  <a:lnTo>
                    <a:pt x="8496173" y="4248023"/>
                  </a:lnTo>
                  <a:lnTo>
                    <a:pt x="4248150" y="8496173"/>
                  </a:lnTo>
                  <a:lnTo>
                    <a:pt x="0" y="4248023"/>
                  </a:lnTo>
                  <a:lnTo>
                    <a:pt x="4248150" y="0"/>
                  </a:lnTo>
                  <a:close/>
                </a:path>
              </a:pathLst>
            </a:custGeom>
            <a:blipFill>
              <a:blip r:embed="rId4"/>
              <a:stretch>
                <a:fillRect b="-1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6375397" y="2654303"/>
            <a:ext cx="3987803" cy="101603"/>
          </a:xfrm>
          <a:custGeom>
            <a:avLst/>
            <a:gdLst/>
            <a:ahLst/>
            <a:cxnLst/>
            <a:rect l="l" t="t" r="r" b="b"/>
            <a:pathLst>
              <a:path w="3987803" h="101603">
                <a:moveTo>
                  <a:pt x="0" y="0"/>
                </a:moveTo>
                <a:lnTo>
                  <a:pt x="3987803" y="0"/>
                </a:lnTo>
                <a:lnTo>
                  <a:pt x="3987803" y="101603"/>
                </a:lnTo>
                <a:lnTo>
                  <a:pt x="0" y="1016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2510" y="293915"/>
            <a:ext cx="3990861" cy="10021891"/>
          </a:xfrm>
          <a:custGeom>
            <a:avLst/>
            <a:gdLst/>
            <a:ahLst/>
            <a:cxnLst/>
            <a:rect l="l" t="t" r="r" b="b"/>
            <a:pathLst>
              <a:path w="3990861" h="10021891">
                <a:moveTo>
                  <a:pt x="0" y="0"/>
                </a:moveTo>
                <a:lnTo>
                  <a:pt x="3990861" y="0"/>
                </a:lnTo>
                <a:lnTo>
                  <a:pt x="3990861" y="10021891"/>
                </a:lnTo>
                <a:lnTo>
                  <a:pt x="0" y="100218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957980" y="1177052"/>
            <a:ext cx="6391818" cy="71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dirty="0">
                <a:solidFill>
                  <a:srgbClr val="FFFFFF"/>
                </a:solidFill>
                <a:latin typeface="DM Serif Display"/>
              </a:rPr>
              <a:t>Tree-Based Representations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8600" y="4152900"/>
            <a:ext cx="75668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solidFill>
                  <a:schemeClr val="bg1"/>
                </a:solidFill>
              </a:rPr>
              <a:t>Tree-based representations are a powerful way to represent computer programs in genetic programming. They allow 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modularity, reusability, and scalability. Tree-based representations can be used to evolve programs that perform a wide range of tasks, from simple mathematical operations to complex control strategies.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286" y="5791"/>
            <a:ext cx="18278475" cy="10281209"/>
          </a:xfrm>
          <a:custGeom>
            <a:avLst/>
            <a:gdLst/>
            <a:ahLst/>
            <a:cxnLst/>
            <a:rect l="l" t="t" r="r" b="b"/>
            <a:pathLst>
              <a:path w="18278475" h="10281209">
                <a:moveTo>
                  <a:pt x="0" y="0"/>
                </a:moveTo>
                <a:lnTo>
                  <a:pt x="18278475" y="0"/>
                </a:lnTo>
                <a:lnTo>
                  <a:pt x="18278475" y="10281209"/>
                </a:lnTo>
                <a:lnTo>
                  <a:pt x="0" y="10281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6" r="-264" b="-14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095744" y="-63503"/>
            <a:ext cx="11250101" cy="10407367"/>
          </a:xfrm>
          <a:custGeom>
            <a:avLst/>
            <a:gdLst/>
            <a:ahLst/>
            <a:cxnLst/>
            <a:rect l="l" t="t" r="r" b="b"/>
            <a:pathLst>
              <a:path w="11250101" h="10407367">
                <a:moveTo>
                  <a:pt x="0" y="0"/>
                </a:moveTo>
                <a:lnTo>
                  <a:pt x="11250101" y="0"/>
                </a:lnTo>
                <a:lnTo>
                  <a:pt x="11250101" y="10407367"/>
                </a:lnTo>
                <a:lnTo>
                  <a:pt x="0" y="104073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44600" y="3251197"/>
            <a:ext cx="3975097" cy="101603"/>
          </a:xfrm>
          <a:custGeom>
            <a:avLst/>
            <a:gdLst/>
            <a:ahLst/>
            <a:cxnLst/>
            <a:rect l="l" t="t" r="r" b="b"/>
            <a:pathLst>
              <a:path w="3975097" h="101603">
                <a:moveTo>
                  <a:pt x="0" y="0"/>
                </a:moveTo>
                <a:lnTo>
                  <a:pt x="3975097" y="0"/>
                </a:lnTo>
                <a:lnTo>
                  <a:pt x="3975097" y="101603"/>
                </a:lnTo>
                <a:lnTo>
                  <a:pt x="0" y="1016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710284" y="1194224"/>
            <a:ext cx="4531290" cy="81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9"/>
              </a:lnSpc>
            </a:pPr>
            <a:r>
              <a:rPr lang="en-US" sz="4650" dirty="0">
                <a:solidFill>
                  <a:srgbClr val="FFFFFF"/>
                </a:solidFill>
                <a:latin typeface="DM Serif Display"/>
              </a:rPr>
              <a:t>Fitness Functions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42972" y="3624129"/>
            <a:ext cx="5865914" cy="2878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23"/>
              </a:lnSpc>
            </a:pPr>
            <a:r>
              <a:rPr lang="en-US" sz="2700" spc="45" dirty="0">
                <a:solidFill>
                  <a:schemeClr val="bg1"/>
                </a:solidFill>
              </a:rPr>
              <a:t>Fitness functions are used to </a:t>
            </a:r>
            <a:r>
              <a:rPr lang="en-US" sz="2700" spc="45" dirty="0" smtClean="0">
                <a:solidFill>
                  <a:schemeClr val="bg1"/>
                </a:solidFill>
              </a:rPr>
              <a:t>evaluate the </a:t>
            </a:r>
            <a:r>
              <a:rPr lang="en-US" sz="2700" spc="45" dirty="0">
                <a:solidFill>
                  <a:schemeClr val="bg1"/>
                </a:solidFill>
              </a:rPr>
              <a:t>quality of solutions in genetic programming. They measure how well a program </a:t>
            </a:r>
            <a:r>
              <a:rPr lang="en-US" sz="2700" spc="45" dirty="0" smtClean="0">
                <a:solidFill>
                  <a:schemeClr val="bg1"/>
                </a:solidFill>
              </a:rPr>
              <a:t>performs </a:t>
            </a:r>
            <a:r>
              <a:rPr lang="en-US" sz="2700" spc="45" dirty="0">
                <a:solidFill>
                  <a:schemeClr val="bg1"/>
                </a:solidFill>
              </a:rPr>
              <a:t>a given task and are used to guide the evolution process. Fitness functions can be hand-crafted or learned from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86950" y="3661380"/>
            <a:ext cx="6548650" cy="3539520"/>
          </a:xfrm>
          <a:prstGeom prst="rect">
            <a:avLst/>
          </a:prstGeom>
          <a:solidFill>
            <a:srgbClr val="2D2B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Fitness functions are used to evaluate the quality of solutions in genetic programming. They measure how well a program performs a given task and are used to guide the evolution process. Fitness functions can be hand-crafted or learned from data.</a:t>
            </a: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175795" y="0"/>
            <a:ext cx="6372130" cy="6049470"/>
            <a:chOff x="0" y="0"/>
            <a:chExt cx="8496173" cy="80659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496173" cy="8065897"/>
            </a:xfrm>
            <a:custGeom>
              <a:avLst/>
              <a:gdLst/>
              <a:ahLst/>
              <a:cxnLst/>
              <a:rect l="l" t="t" r="r" b="b"/>
              <a:pathLst>
                <a:path w="8496173" h="8065897">
                  <a:moveTo>
                    <a:pt x="3817874" y="0"/>
                  </a:moveTo>
                  <a:lnTo>
                    <a:pt x="0" y="3817874"/>
                  </a:lnTo>
                  <a:lnTo>
                    <a:pt x="4248023" y="8065897"/>
                  </a:lnTo>
                  <a:lnTo>
                    <a:pt x="8496173" y="3817874"/>
                  </a:lnTo>
                  <a:lnTo>
                    <a:pt x="4678299" y="0"/>
                  </a:lnTo>
                  <a:close/>
                </a:path>
              </a:pathLst>
            </a:custGeom>
            <a:blipFill>
              <a:blip r:embed="rId4"/>
              <a:stretch>
                <a:fillRect t="-5334" b="-1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8623297" y="2832097"/>
            <a:ext cx="3505200" cy="101603"/>
          </a:xfrm>
          <a:custGeom>
            <a:avLst/>
            <a:gdLst/>
            <a:ahLst/>
            <a:cxnLst/>
            <a:rect l="l" t="t" r="r" b="b"/>
            <a:pathLst>
              <a:path w="3505200" h="101603">
                <a:moveTo>
                  <a:pt x="0" y="0"/>
                </a:moveTo>
                <a:lnTo>
                  <a:pt x="3505200" y="0"/>
                </a:lnTo>
                <a:lnTo>
                  <a:pt x="3505200" y="101603"/>
                </a:lnTo>
                <a:lnTo>
                  <a:pt x="0" y="1016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628145" y="1274635"/>
            <a:ext cx="8503329" cy="81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9"/>
              </a:lnSpc>
            </a:pPr>
            <a:r>
              <a:rPr lang="en-US" sz="4650" dirty="0">
                <a:solidFill>
                  <a:srgbClr val="FFFFFF"/>
                </a:solidFill>
                <a:latin typeface="DM Serif Display"/>
              </a:rPr>
              <a:t>Challenges and Future Prospects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695700"/>
            <a:ext cx="7543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Despite its success, genetic programming still faces many challenges, such as scalability, interpretability, and reliability. However, recent advances in the field, such as deep learning and </a:t>
            </a:r>
            <a:r>
              <a:rPr lang="en-US" sz="2800" dirty="0" smtClean="0">
                <a:solidFill>
                  <a:schemeClr val="bg1"/>
                </a:solidFill>
              </a:rPr>
              <a:t>neuro evolution</a:t>
            </a:r>
            <a:r>
              <a:rPr lang="en-US" sz="2800" dirty="0">
                <a:solidFill>
                  <a:schemeClr val="bg1"/>
                </a:solidFill>
              </a:rPr>
              <a:t>, offer exciting prospects for the future of genetic programming.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3401492" y="2331015"/>
            <a:ext cx="6206680" cy="81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9"/>
              </a:lnSpc>
            </a:pPr>
            <a:r>
              <a:rPr lang="en-US" sz="4650" dirty="0">
                <a:solidFill>
                  <a:srgbClr val="FFFFFF"/>
                </a:solidFill>
                <a:latin typeface="DM Serif Display"/>
              </a:rPr>
              <a:t>Crossover and Mutation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29596" y="4109237"/>
            <a:ext cx="5680596" cy="3288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42"/>
              </a:lnSpc>
            </a:pPr>
            <a:r>
              <a:rPr lang="en-US" sz="2700" spc="45" dirty="0">
                <a:solidFill>
                  <a:schemeClr val="bg1"/>
                </a:solidFill>
                <a:latin typeface="IBM Plex Sans Condensed"/>
              </a:rPr>
              <a:t>Crossover and mutation are the two main operators used in genetic programming to create new solutions. Crossover involves combining parts of two parent </a:t>
            </a:r>
            <a:r>
              <a:rPr lang="en-US" sz="2700" spc="45" dirty="0" err="1" smtClean="0">
                <a:solidFill>
                  <a:schemeClr val="bg1"/>
                </a:solidFill>
                <a:latin typeface="IBM Plex Sans Condensed"/>
              </a:rPr>
              <a:t>soltns</a:t>
            </a:r>
            <a:r>
              <a:rPr lang="en-US" sz="2700" spc="45" dirty="0" smtClean="0">
                <a:solidFill>
                  <a:schemeClr val="bg1"/>
                </a:solidFill>
                <a:latin typeface="IBM Plex Sans Condensed"/>
              </a:rPr>
              <a:t> </a:t>
            </a:r>
            <a:r>
              <a:rPr lang="en-US" sz="2700" spc="45" dirty="0">
                <a:solidFill>
                  <a:schemeClr val="bg1"/>
                </a:solidFill>
                <a:latin typeface="IBM Plex Sans Condensed"/>
              </a:rPr>
              <a:t>to create a new solution. </a:t>
            </a:r>
            <a:r>
              <a:rPr lang="en-US" sz="2700" spc="45" dirty="0" smtClean="0">
                <a:solidFill>
                  <a:schemeClr val="bg1"/>
                </a:solidFill>
                <a:latin typeface="IBM Plex Sans Condensed"/>
              </a:rPr>
              <a:t>Mutation </a:t>
            </a:r>
            <a:r>
              <a:rPr lang="en-US" sz="2700" spc="45" dirty="0">
                <a:solidFill>
                  <a:schemeClr val="bg1"/>
                </a:solidFill>
                <a:latin typeface="IBM Plex Sans Condensed"/>
              </a:rPr>
              <a:t>involves randomly changing parts of a solution to create </a:t>
            </a:r>
            <a:r>
              <a:rPr lang="en-US" sz="2700" spc="45" dirty="0" smtClean="0">
                <a:solidFill>
                  <a:schemeClr val="bg1"/>
                </a:solidFill>
                <a:latin typeface="IBM Plex Sans Condensed"/>
              </a:rPr>
              <a:t>a new </a:t>
            </a:r>
            <a:r>
              <a:rPr lang="en-US" sz="2700" spc="45" dirty="0">
                <a:solidFill>
                  <a:schemeClr val="bg1"/>
                </a:solidFill>
                <a:latin typeface="IBM Plex Sans Condensed"/>
              </a:rPr>
              <a:t>solution.</a:t>
            </a:r>
          </a:p>
        </p:txBody>
      </p:sp>
      <p:sp>
        <p:nvSpPr>
          <p:cNvPr id="14" name="Freeform 2"/>
          <p:cNvSpPr/>
          <p:nvPr/>
        </p:nvSpPr>
        <p:spPr>
          <a:xfrm>
            <a:off x="-21609" y="-98191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9"/>
          <p:cNvSpPr/>
          <p:nvPr/>
        </p:nvSpPr>
        <p:spPr>
          <a:xfrm>
            <a:off x="6375397" y="2654303"/>
            <a:ext cx="3987803" cy="101603"/>
          </a:xfrm>
          <a:custGeom>
            <a:avLst/>
            <a:gdLst/>
            <a:ahLst/>
            <a:cxnLst/>
            <a:rect l="l" t="t" r="r" b="b"/>
            <a:pathLst>
              <a:path w="3987803" h="101603">
                <a:moveTo>
                  <a:pt x="0" y="0"/>
                </a:moveTo>
                <a:lnTo>
                  <a:pt x="3987803" y="0"/>
                </a:lnTo>
                <a:lnTo>
                  <a:pt x="3987803" y="101603"/>
                </a:lnTo>
                <a:lnTo>
                  <a:pt x="0" y="1016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Freeform 10"/>
          <p:cNvSpPr/>
          <p:nvPr/>
        </p:nvSpPr>
        <p:spPr>
          <a:xfrm>
            <a:off x="-63503" y="328603"/>
            <a:ext cx="3990861" cy="10021891"/>
          </a:xfrm>
          <a:custGeom>
            <a:avLst/>
            <a:gdLst/>
            <a:ahLst/>
            <a:cxnLst/>
            <a:rect l="l" t="t" r="r" b="b"/>
            <a:pathLst>
              <a:path w="3990861" h="10021891">
                <a:moveTo>
                  <a:pt x="0" y="0"/>
                </a:moveTo>
                <a:lnTo>
                  <a:pt x="3990861" y="0"/>
                </a:lnTo>
                <a:lnTo>
                  <a:pt x="3990861" y="10021891"/>
                </a:lnTo>
                <a:lnTo>
                  <a:pt x="0" y="100218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1"/>
          <p:cNvSpPr txBox="1"/>
          <p:nvPr/>
        </p:nvSpPr>
        <p:spPr>
          <a:xfrm>
            <a:off x="3957980" y="1177052"/>
            <a:ext cx="6391818" cy="71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endParaRPr lang="en-US" sz="4050" dirty="0">
              <a:solidFill>
                <a:srgbClr val="FFFFFF"/>
              </a:solidFill>
              <a:latin typeface="DM Serif Display"/>
            </a:endParaRPr>
          </a:p>
        </p:txBody>
      </p:sp>
      <p:grpSp>
        <p:nvGrpSpPr>
          <p:cNvPr id="20" name="Group 4"/>
          <p:cNvGrpSpPr>
            <a:grpSpLocks noChangeAspect="1"/>
          </p:cNvGrpSpPr>
          <p:nvPr/>
        </p:nvGrpSpPr>
        <p:grpSpPr>
          <a:xfrm>
            <a:off x="11353800" y="3314700"/>
            <a:ext cx="6372130" cy="6372130"/>
            <a:chOff x="0" y="0"/>
            <a:chExt cx="8496173" cy="8496173"/>
          </a:xfrm>
        </p:grpSpPr>
        <p:sp>
          <p:nvSpPr>
            <p:cNvPr id="21" name="Freeform 5"/>
            <p:cNvSpPr/>
            <p:nvPr/>
          </p:nvSpPr>
          <p:spPr>
            <a:xfrm>
              <a:off x="0" y="0"/>
              <a:ext cx="8496173" cy="8496173"/>
            </a:xfrm>
            <a:custGeom>
              <a:avLst/>
              <a:gdLst/>
              <a:ahLst/>
              <a:cxnLst/>
              <a:rect l="l" t="t" r="r" b="b"/>
              <a:pathLst>
                <a:path w="8496173" h="8496173">
                  <a:moveTo>
                    <a:pt x="4248023" y="0"/>
                  </a:moveTo>
                  <a:lnTo>
                    <a:pt x="0" y="4248023"/>
                  </a:lnTo>
                  <a:lnTo>
                    <a:pt x="4248023" y="8496173"/>
                  </a:lnTo>
                  <a:lnTo>
                    <a:pt x="8496173" y="4248023"/>
                  </a:lnTo>
                  <a:lnTo>
                    <a:pt x="4248023" y="0"/>
                  </a:lnTo>
                  <a:close/>
                </a:path>
              </a:pathLst>
            </a:custGeom>
            <a:blipFill>
              <a:blip r:embed="rId16"/>
              <a:stretch>
                <a:fillRect b="-1"/>
              </a:stretch>
            </a:blipFill>
          </p:spPr>
        </p:sp>
      </p:grpSp>
      <p:sp>
        <p:nvSpPr>
          <p:cNvPr id="22" name="TextBox 21"/>
          <p:cNvSpPr txBox="1"/>
          <p:nvPr/>
        </p:nvSpPr>
        <p:spPr>
          <a:xfrm>
            <a:off x="5181601" y="1485900"/>
            <a:ext cx="6324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DM Serif Display" panose="020B0604020202020204" charset="0"/>
              </a:rPr>
              <a:t>Crossover </a:t>
            </a:r>
            <a:r>
              <a:rPr lang="en-IN" sz="4000" b="1" dirty="0" smtClean="0">
                <a:solidFill>
                  <a:schemeClr val="bg1"/>
                </a:solidFill>
                <a:latin typeface="DM Serif Display" panose="020B0604020202020204" charset="0"/>
              </a:rPr>
              <a:t> and  Mutation</a:t>
            </a:r>
            <a:endParaRPr lang="en-IN" sz="4000" b="1" dirty="0">
              <a:solidFill>
                <a:schemeClr val="bg1"/>
              </a:solidFill>
              <a:latin typeface="DM Serif Display" panose="020B06040202020202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14800" y="3611168"/>
            <a:ext cx="70866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 smtClean="0">
                <a:solidFill>
                  <a:schemeClr val="bg1"/>
                </a:solidFill>
              </a:rPr>
              <a:t>Crossover </a:t>
            </a:r>
            <a:r>
              <a:rPr lang="en-US" sz="2800" dirty="0">
                <a:solidFill>
                  <a:schemeClr val="bg1"/>
                </a:solidFill>
              </a:rPr>
              <a:t>and mutation are the two main operators used in genetic programming to create new solutions. Crossover involves combining parts of two parent solutions to create a new solution. Mutation involves randomly changing parts of a solution to create a new solution. 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213597" y="3822697"/>
            <a:ext cx="3848100" cy="114300"/>
          </a:xfrm>
          <a:custGeom>
            <a:avLst/>
            <a:gdLst/>
            <a:ahLst/>
            <a:cxnLst/>
            <a:rect l="l" t="t" r="r" b="b"/>
            <a:pathLst>
              <a:path w="3848100" h="114300">
                <a:moveTo>
                  <a:pt x="0" y="0"/>
                </a:moveTo>
                <a:lnTo>
                  <a:pt x="3848100" y="0"/>
                </a:lnTo>
                <a:lnTo>
                  <a:pt x="38481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128726" y="4162225"/>
            <a:ext cx="10014033" cy="3214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8"/>
              </a:lnSpc>
            </a:pPr>
            <a:r>
              <a:rPr lang="en-US" sz="3525" spc="49" dirty="0">
                <a:solidFill>
                  <a:schemeClr val="bg1"/>
                </a:solidFill>
                <a:latin typeface="IBM Plex Sans Condensed"/>
              </a:rPr>
              <a:t>Genetic programming is a powerful machine learning technique that has been used in a wide range of applications. It offers many advantages over traditional programming, such as automation, modularity, and scalability. Despite its </a:t>
            </a:r>
            <a:r>
              <a:rPr lang="en-US" sz="3525" spc="49" dirty="0" err="1" smtClean="0">
                <a:solidFill>
                  <a:schemeClr val="bg1"/>
                </a:solidFill>
                <a:latin typeface="IBM Plex Sans Condensed"/>
              </a:rPr>
              <a:t>hallenges</a:t>
            </a:r>
            <a:r>
              <a:rPr lang="en-US" sz="3525" spc="49" dirty="0">
                <a:solidFill>
                  <a:schemeClr val="bg1"/>
                </a:solidFill>
                <a:latin typeface="IBM Plex Sans Condensed"/>
              </a:rPr>
              <a:t>, genetic programming has a bright future ahead.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69572" y="2145659"/>
            <a:ext cx="3803228" cy="9091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5250" dirty="0" smtClean="0">
                <a:solidFill>
                  <a:srgbClr val="FFFFFF"/>
                </a:solidFill>
                <a:latin typeface="DM Serif Display"/>
              </a:rPr>
              <a:t>Conclusion</a:t>
            </a:r>
            <a:endParaRPr lang="en-US" sz="5250" dirty="0">
              <a:solidFill>
                <a:srgbClr val="FFFFFF"/>
              </a:solidFill>
              <a:latin typeface="DM Serif Display"/>
            </a:endParaRPr>
          </a:p>
        </p:txBody>
      </p:sp>
      <p:sp>
        <p:nvSpPr>
          <p:cNvPr id="12" name="Freeform 2"/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9"/>
          <p:cNvSpPr/>
          <p:nvPr/>
        </p:nvSpPr>
        <p:spPr>
          <a:xfrm>
            <a:off x="8623297" y="2832097"/>
            <a:ext cx="3505200" cy="101603"/>
          </a:xfrm>
          <a:custGeom>
            <a:avLst/>
            <a:gdLst/>
            <a:ahLst/>
            <a:cxnLst/>
            <a:rect l="l" t="t" r="r" b="b"/>
            <a:pathLst>
              <a:path w="3505200" h="101603">
                <a:moveTo>
                  <a:pt x="0" y="0"/>
                </a:moveTo>
                <a:lnTo>
                  <a:pt x="3505200" y="0"/>
                </a:lnTo>
                <a:lnTo>
                  <a:pt x="3505200" y="101603"/>
                </a:lnTo>
                <a:lnTo>
                  <a:pt x="0" y="1016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TextBox 10"/>
          <p:cNvSpPr txBox="1"/>
          <p:nvPr/>
        </p:nvSpPr>
        <p:spPr>
          <a:xfrm>
            <a:off x="8484857" y="1658401"/>
            <a:ext cx="8503329" cy="81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509"/>
              </a:lnSpc>
            </a:pPr>
            <a:r>
              <a:rPr lang="en-IN" sz="5200" b="1" dirty="0">
                <a:solidFill>
                  <a:schemeClr val="bg1"/>
                </a:solidFill>
              </a:rPr>
              <a:t>Conclusion</a:t>
            </a:r>
            <a:endParaRPr lang="en-US" sz="5200" b="1" dirty="0">
              <a:solidFill>
                <a:schemeClr val="bg1"/>
              </a:solidFill>
              <a:latin typeface="DM Serif Display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86600" y="3695700"/>
            <a:ext cx="8229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Genetic programming is a powerful machine learning technique that has been used in a wide range of applications. It offers many advantages over traditional programming, such as automation, modularity, and scalability. Despite its challenges, genetic programming has a bright future ahead.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324100" y="4508497"/>
            <a:ext cx="5956297" cy="101603"/>
          </a:xfrm>
          <a:custGeom>
            <a:avLst/>
            <a:gdLst/>
            <a:ahLst/>
            <a:cxnLst/>
            <a:rect l="l" t="t" r="r" b="b"/>
            <a:pathLst>
              <a:path w="5956297" h="101603">
                <a:moveTo>
                  <a:pt x="0" y="0"/>
                </a:moveTo>
                <a:lnTo>
                  <a:pt x="5956297" y="0"/>
                </a:lnTo>
                <a:lnTo>
                  <a:pt x="5956297" y="101603"/>
                </a:lnTo>
                <a:lnTo>
                  <a:pt x="0" y="1016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259520" y="2144163"/>
            <a:ext cx="5741480" cy="1641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10"/>
              </a:lnSpc>
            </a:pPr>
            <a:r>
              <a:rPr lang="en-US" sz="9150" dirty="0" smtClean="0">
                <a:solidFill>
                  <a:srgbClr val="FFFFFF"/>
                </a:solidFill>
                <a:latin typeface="DM Serif Display"/>
              </a:rPr>
              <a:t>Thank </a:t>
            </a:r>
            <a:endParaRPr lang="en-US" sz="9150" dirty="0">
              <a:solidFill>
                <a:srgbClr val="FFFFFF"/>
              </a:solidFill>
              <a:latin typeface="DM Serif Display"/>
            </a:endParaRPr>
          </a:p>
        </p:txBody>
      </p:sp>
      <p:sp>
        <p:nvSpPr>
          <p:cNvPr id="13" name="Freeform 2"/>
          <p:cNvSpPr/>
          <p:nvPr/>
        </p:nvSpPr>
        <p:spPr>
          <a:xfrm>
            <a:off x="-10236" y="-86551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9"/>
          <p:cNvSpPr/>
          <p:nvPr/>
        </p:nvSpPr>
        <p:spPr>
          <a:xfrm>
            <a:off x="6334075" y="5689498"/>
            <a:ext cx="4953000" cy="116613"/>
          </a:xfrm>
          <a:custGeom>
            <a:avLst/>
            <a:gdLst/>
            <a:ahLst/>
            <a:cxnLst/>
            <a:rect l="l" t="t" r="r" b="b"/>
            <a:pathLst>
              <a:path w="3987803" h="101603">
                <a:moveTo>
                  <a:pt x="0" y="0"/>
                </a:moveTo>
                <a:lnTo>
                  <a:pt x="3987803" y="0"/>
                </a:lnTo>
                <a:lnTo>
                  <a:pt x="3987803" y="101603"/>
                </a:lnTo>
                <a:lnTo>
                  <a:pt x="0" y="1016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Freeform 10"/>
          <p:cNvSpPr/>
          <p:nvPr/>
        </p:nvSpPr>
        <p:spPr>
          <a:xfrm>
            <a:off x="-63503" y="328603"/>
            <a:ext cx="3990861" cy="10021891"/>
          </a:xfrm>
          <a:custGeom>
            <a:avLst/>
            <a:gdLst/>
            <a:ahLst/>
            <a:cxnLst/>
            <a:rect l="l" t="t" r="r" b="b"/>
            <a:pathLst>
              <a:path w="3990861" h="10021891">
                <a:moveTo>
                  <a:pt x="0" y="0"/>
                </a:moveTo>
                <a:lnTo>
                  <a:pt x="3990861" y="0"/>
                </a:lnTo>
                <a:lnTo>
                  <a:pt x="3990861" y="10021891"/>
                </a:lnTo>
                <a:lnTo>
                  <a:pt x="0" y="100218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5791200" y="4601022"/>
            <a:ext cx="5791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solidFill>
                  <a:schemeClr val="bg1"/>
                </a:solidFill>
                <a:latin typeface="DM Serif Display" panose="020B0604020202020204" charset="0"/>
              </a:rPr>
              <a:t>THANK  YOU  !</a:t>
            </a:r>
            <a:endParaRPr lang="en-IN" sz="6000" b="1" dirty="0">
              <a:solidFill>
                <a:schemeClr val="bg1"/>
              </a:solidFill>
              <a:latin typeface="DM Serif Display" panose="020B0604020202020204" charset="0"/>
            </a:endParaRPr>
          </a:p>
        </p:txBody>
      </p:sp>
      <p:sp>
        <p:nvSpPr>
          <p:cNvPr id="22" name="Freeform 9"/>
          <p:cNvSpPr/>
          <p:nvPr/>
        </p:nvSpPr>
        <p:spPr>
          <a:xfrm>
            <a:off x="7239000" y="5929692"/>
            <a:ext cx="4953000" cy="116613"/>
          </a:xfrm>
          <a:custGeom>
            <a:avLst/>
            <a:gdLst/>
            <a:ahLst/>
            <a:cxnLst/>
            <a:rect l="l" t="t" r="r" b="b"/>
            <a:pathLst>
              <a:path w="3987803" h="101603">
                <a:moveTo>
                  <a:pt x="0" y="0"/>
                </a:moveTo>
                <a:lnTo>
                  <a:pt x="3987803" y="0"/>
                </a:lnTo>
                <a:lnTo>
                  <a:pt x="3987803" y="101603"/>
                </a:lnTo>
                <a:lnTo>
                  <a:pt x="0" y="1016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480</Words>
  <Application>Microsoft Office PowerPoint</Application>
  <PresentationFormat>Custom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IBM Plex Sans Condensed</vt:lpstr>
      <vt:lpstr>Calibri</vt:lpstr>
      <vt:lpstr>DM Serif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wepik-unleashing-the-potential-of-genetic-programming-a-comprehensive-overview-20231003160841MMJX.pdf</dc:title>
  <dc:creator>Hamsa</dc:creator>
  <cp:lastModifiedBy>Hp</cp:lastModifiedBy>
  <cp:revision>12</cp:revision>
  <dcterms:created xsi:type="dcterms:W3CDTF">2006-08-16T00:00:00Z</dcterms:created>
  <dcterms:modified xsi:type="dcterms:W3CDTF">2023-10-04T00:38:13Z</dcterms:modified>
  <dc:identifier>DAFwOEeXKD8</dc:identifier>
</cp:coreProperties>
</file>